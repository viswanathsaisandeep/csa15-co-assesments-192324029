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PPaTtrsDVNbnJVmHkkwlgVu7A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by naming the capstone problem and the cloud product objective. Keep the title slide uncluttered and clearly identify the individual presenter.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 not start with technology. First make the need clear, then connect it to cloud-enabled scale, reach, or reliability.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Students should explain the concept map as a reasoning artifact, not as decoration.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Walk from user request to API, compute, data, storage, analytics, monitoring, and security boundary.</a:t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Ask the student to defend provider responsibility and student responsibility for the selected service models.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Big data analytics is optional, but a thoughtful data path is expected.</a:t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AI is not required, students can present a Python automation or analytics module instead.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where students show engineering judgment instead of simply listing services.</a:t>
            </a:r>
            <a:endParaRPr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Evidence should be specific and inspectable, not a generic list of tools.</a:t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storyboard helps the faculty see whether the cloud architecture is connected to actual use.</a:t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Students can use this as the self-check slide before presenting the conclusion.</a:t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ending should synthesize learning, not just say thank you.</a:t>
            </a:r>
            <a:endParaRPr/>
          </a:p>
        </p:txBody>
      </p:sp>
      <p:sp>
        <p:nvSpPr>
          <p:cNvPr id="363" name="Google Shape;36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01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23900" y="914400"/>
            <a:ext cx="6762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CSA15 Cloud Computing and Big Data Analytics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23900" y="2152650"/>
            <a:ext cx="6762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2F6690"/>
                </a:solidFill>
                <a:latin typeface="Calibri"/>
                <a:ea typeface="Calibri"/>
                <a:cs typeface="Calibri"/>
                <a:sym typeface="Calibri"/>
              </a:rPr>
              <a:t>Capstone Cloud Technical Presentation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23900" y="2762250"/>
            <a:ext cx="590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Individual Student Presentation Deck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696200" y="133350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Presenter Details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696200" y="1733550"/>
            <a:ext cx="3371850" cy="241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Student Name: VISWANATH SAI SANDEEP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Register Number: 192324029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Class / Section / Slot: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Capstone Title: Secure Vo</a:t>
            </a:r>
            <a:r>
              <a:rPr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te Campus Polling 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Selected SDG Goal(s): Peace, Justice &amp; Str</a:t>
            </a:r>
            <a:r>
              <a:rPr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ong Institutions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Cloud Platform / Tools: Google Firebase, Flutter, Python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fmla="val 6452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95350" y="3905250"/>
            <a:ext cx="5848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Presentation Focus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895350" y="4305300"/>
            <a:ext cx="5848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Present your capstone as a cloud-backed product. Explain the problem, architecture, service choices, evidence, and CO1 learning clearly.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02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Context and Stakeholder Mapping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capstone begins with a real problem to solve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Manual polling systems are prone to tampering, lack transparency &amp; are difficult to scale for large campus elections.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Students (Voters) and Faculty (Election Managers)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SDG Fit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SDG 16 (Promoting Transparent &amp; accountable institution process)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Product Boundary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Includes voter authentication, ballot issuance, encrypted vote storage, audit logs and real-time result analytics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03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Adoption Rationale and Concept Map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problem needs cloud support to become a usable product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95350" y="179070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Definition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95350" y="219075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 serverless cloud polling platform that uses cloud-native services to securely ingest votes and maintain result integrity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95350" y="342900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Characteristics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95350" y="3695700"/>
            <a:ext cx="4419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Auto-scaling API Functions for traffic spikes during peak hours.</a:t>
            </a:r>
            <a:endParaRPr sz="1275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Designed to handle 900 requests per minute</a:t>
            </a:r>
            <a:endParaRPr sz="1275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Monitoring API latency &amp; error rates</a:t>
            </a:r>
            <a:endParaRPr sz="1275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134100" y="1600200"/>
            <a:ext cx="4762500" cy="4028700"/>
          </a:xfrm>
          <a:prstGeom prst="roundRect">
            <a:avLst>
              <a:gd fmla="val 2632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305550" y="177165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Concept Map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305550" y="2190750"/>
            <a:ext cx="44196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970100" y="2260838"/>
            <a:ext cx="1071600" cy="4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Client (App)</a:t>
            </a:r>
            <a:endParaRPr sz="1100"/>
          </a:p>
        </p:txBody>
      </p:sp>
      <p:cxnSp>
        <p:nvCxnSpPr>
          <p:cNvPr id="87" name="Google Shape;87;p3"/>
          <p:cNvCxnSpPr>
            <a:stCxn id="86" idx="4"/>
          </p:cNvCxnSpPr>
          <p:nvPr/>
        </p:nvCxnSpPr>
        <p:spPr>
          <a:xfrm>
            <a:off x="8505900" y="2661038"/>
            <a:ext cx="5400" cy="2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3"/>
          <p:cNvSpPr/>
          <p:nvPr/>
        </p:nvSpPr>
        <p:spPr>
          <a:xfrm>
            <a:off x="7972800" y="2901638"/>
            <a:ext cx="1071600" cy="4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API Gateway</a:t>
            </a:r>
            <a:endParaRPr sz="1100"/>
          </a:p>
        </p:txBody>
      </p:sp>
      <p:cxnSp>
        <p:nvCxnSpPr>
          <p:cNvPr id="89" name="Google Shape;89;p3"/>
          <p:cNvCxnSpPr>
            <a:stCxn id="88" idx="4"/>
          </p:cNvCxnSpPr>
          <p:nvPr/>
        </p:nvCxnSpPr>
        <p:spPr>
          <a:xfrm>
            <a:off x="8508600" y="3301838"/>
            <a:ext cx="5400" cy="2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3"/>
          <p:cNvSpPr/>
          <p:nvPr/>
        </p:nvSpPr>
        <p:spPr>
          <a:xfrm>
            <a:off x="7975500" y="3542438"/>
            <a:ext cx="1071600" cy="4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Auth Service</a:t>
            </a:r>
            <a:endParaRPr sz="1100"/>
          </a:p>
        </p:txBody>
      </p:sp>
      <p:cxnSp>
        <p:nvCxnSpPr>
          <p:cNvPr id="91" name="Google Shape;91;p3"/>
          <p:cNvCxnSpPr>
            <a:stCxn id="90" idx="4"/>
          </p:cNvCxnSpPr>
          <p:nvPr/>
        </p:nvCxnSpPr>
        <p:spPr>
          <a:xfrm>
            <a:off x="8511300" y="3942638"/>
            <a:ext cx="5400" cy="2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3"/>
          <p:cNvSpPr/>
          <p:nvPr/>
        </p:nvSpPr>
        <p:spPr>
          <a:xfrm>
            <a:off x="7823550" y="4194338"/>
            <a:ext cx="1380900" cy="4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Firebase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(Backend)</a:t>
            </a:r>
            <a:endParaRPr sz="1100"/>
          </a:p>
        </p:txBody>
      </p:sp>
      <p:cxnSp>
        <p:nvCxnSpPr>
          <p:cNvPr id="93" name="Google Shape;93;p3"/>
          <p:cNvCxnSpPr>
            <a:stCxn id="92" idx="4"/>
          </p:cNvCxnSpPr>
          <p:nvPr/>
        </p:nvCxnSpPr>
        <p:spPr>
          <a:xfrm>
            <a:off x="8514000" y="4594538"/>
            <a:ext cx="5400" cy="2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3"/>
          <p:cNvSpPr/>
          <p:nvPr/>
        </p:nvSpPr>
        <p:spPr>
          <a:xfrm>
            <a:off x="7826250" y="4844663"/>
            <a:ext cx="1380900" cy="4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Firestore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(Audit Logs)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04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Capstone Cloud Architecture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cloud architecture connects the user action to services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19309"/>
          <a:stretch/>
        </p:blipFill>
        <p:spPr>
          <a:xfrm>
            <a:off x="979713" y="1588137"/>
            <a:ext cx="10232577" cy="4596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05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Service Model Responsibility Matrix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service model defines what we control and what cloud manages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00100" y="1971675"/>
            <a:ext cx="1562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area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514600" y="1971675"/>
            <a:ext cx="990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657600" y="1971675"/>
            <a:ext cx="2133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Provider manages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943600" y="1971675"/>
            <a:ext cx="2228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team manages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324850" y="1971675"/>
            <a:ext cx="2324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fits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00100" y="24574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Frontend hosting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PaaS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CDN, SSL, deployment infrastructure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Flutter code, UI/UX Routing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Enables fast, global delivery of the app with zero server maintenance.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00100" y="29527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Backend/API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2438400" y="2800350"/>
            <a:ext cx="1143000" cy="47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FaaS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Runtime environment, auto-scaling, OS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Logic, vote processing, API endpoints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Scales automatically to handle traffic spikes during peak voting hours.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00100" y="34480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DBaaS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Replication, patching, backups, hardware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Schema Design, Security Rules, Logic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Real-time synchronization is critical for live-updating poll results.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00100" y="39433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 Storage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Durability, availability, bucket management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Upload, Audit Log Organisation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Ensures durable, tamper-evident storage for immutable audit logs.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800100" y="44386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Monitoring / logs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SaaS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Visualisation tools, log ingestion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Querying logs, setting performance alerts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Crucial for tracking system health during the live election.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00100" y="49339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 / IAM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IDaaS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OAuth, platform security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roles, access control rules, API Key 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Offloads complex authentication to a secure, trusted provider.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06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Flow and Analytics Pipeline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product data moves from user activity to useful insight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668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2001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30480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1813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1625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1437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91249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723900" y="3238500"/>
            <a:ext cx="3143400" cy="2210700"/>
          </a:xfrm>
          <a:prstGeom prst="roundRect">
            <a:avLst>
              <a:gd fmla="val 6349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95350" y="3429000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Requirements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895350" y="3829050"/>
            <a:ext cx="2800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Voter Identity: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Auth events (Timestamp + UID).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Election Transactions: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Vote payloads (VoterID + CandidateID).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Audit Trail: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Immutable log files capturing every successful transaction.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362450" y="3238500"/>
            <a:ext cx="3143400" cy="221070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533900" y="3429000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Analytics Requirement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533900" y="3829050"/>
            <a:ext cx="2800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Voter Identity: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Auth events (Timestamp + UID).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Election Transactions: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Vote payloads (VoterID + CandidateID).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Audit Trail: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Immutable log files capturing every successful transaction.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001000" y="3238500"/>
            <a:ext cx="3143400" cy="3143400"/>
          </a:xfrm>
          <a:prstGeom prst="roundRect">
            <a:avLst>
              <a:gd fmla="val 6349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8172450" y="3429000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Proof Required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8172450" y="3829050"/>
            <a:ext cx="2800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Sample Input:</a:t>
            </a:r>
            <a:endParaRPr b="1"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{"voter_id": "STU12345", "candidate_id": "CAND_01", "timestamp": "2026-07-17T11:00Z"}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Sample Output:</a:t>
            </a:r>
            <a:endParaRPr b="1"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{"status": "Success", "current_tally": 542, "integrity_check": "Verified"}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Insight Generated:</a:t>
            </a: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"System confirms 100% data consistency between user votes and audit logs."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07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Python / AI Module Integration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or AI adds intelligence where the product needs it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Python Role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952500" y="2076375"/>
            <a:ext cx="419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Data validation &amp; integrity verification. This script iterates through the Audit Log Files to ensure every vote corresponds to a valid user &amp; no double voting has occurred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Input and Output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Input: JSON/CSV logs from Cloud Storage.</a:t>
            </a:r>
            <a:endParaRPr sz="1275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Output: A validation report (Boolean: “Integrity Verified” or “Anomoly Detected”).</a:t>
            </a:r>
            <a:endParaRPr sz="1275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Execution Point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Scheduled Cloud Function (cron job) or on-demand triggered by an admin “verify” button.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Product Value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Provides an automated, non-repudiable audit mechanism, ensuring voters that the result has not been tampered with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08</a:t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Security, Scalability, Privacy and Cost Design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Security, scale, privacy and cost shape the final design</a:t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Use Firebase Auth </a:t>
            </a: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 and IAM roles to restrict write access to the database. Use encryption at rest  for the firestore database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Voter Identity(UID) is stored </a:t>
            </a: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separately</a:t>
            </a: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 from the ballot choice in the database to ensure anonymity.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The serverless nature of firebase handles thousands of concurrent requests without manual server management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Cost Awareness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Leveraging firebase “Spark” or “Blaze” Plan using free tier allowances for auth and firestore read/writes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09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Implementation Stack and Deployment Evidence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implementation stack shows how the design will be built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Mobile / Web Layer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Frontend Framework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Services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Google Firebase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GUI Mockups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Using Git we will control the version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10</a:t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Demo Storyboard and User Journey</a:t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complete user journey proves the product flow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1</a:t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895350" y="209550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Voter opens the Flutter app and signs in using Campus SSO (Firebase Auth).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2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4533900" y="209550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Voter selects a candidate and taps "Cast Vote."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3</a:t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8172450" y="209550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Cloud Function validates the request; writes vote to Firestore.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89535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4</a:t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895350" y="382905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Cloud Function records the transaction in an immutable Audit Log file.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453390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5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533900" y="382905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Admin dashboard triggers the Python integrity script.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817245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6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8172450" y="382905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Dashboard shows the final, verified results to users.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11</a:t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Evaluation Readiness Checklist</a:t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evidence confirms that the presentation is ready</a:t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Cloud ecosystem and service model explained</a:t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REST/SOAP/API role connected to capstone</a:t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</a:t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Architecture has compute, data, storage, security, monitoring</a:t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Elasticity and scalability decisions are visible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</a:t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GitHub and cloud evidence are inspectable</a:t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</a:t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References and integrity statement are included</a:t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2095500" y="4953000"/>
            <a:ext cx="8001000" cy="704850"/>
          </a:xfrm>
          <a:prstGeom prst="roundRect">
            <a:avLst>
              <a:gd fmla="val 1081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2095500" y="4581450"/>
            <a:ext cx="7658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Evaluator Focus</a:t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2438400" y="5126775"/>
            <a:ext cx="7658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CO1 is verified through cloud design reasoning, service choices, evidence, and individual explanation.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12</a:t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Conclusion, Limitations and Future Scope</a:t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close with learning, limitations and next steps</a:t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What cloud concepts did the project make clear?</a:t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Current iteration relies on internet connectivity; future builds could include offline-first caching.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Future Improvement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Implement a Blockchain module to make Audit Logs truly immutable and verifiable by external third parties.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Integrity Statement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project was built using Firebase/Flutter/Python. No external sensitive datasets were used.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